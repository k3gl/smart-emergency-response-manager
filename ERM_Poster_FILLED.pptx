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5201563" cy="35999738"/>
  <p:notesSz cx="6715125" cy="9239250"/>
  <p:defaultTex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5289">
          <p15:clr>
            <a:srgbClr val="A4A3A4"/>
          </p15:clr>
        </p15:guide>
        <p15:guide id="2" orient="horz" pos="22086">
          <p15:clr>
            <a:srgbClr val="A4A3A4"/>
          </p15:clr>
        </p15:guide>
        <p15:guide id="3" orient="horz" pos="2349">
          <p15:clr>
            <a:srgbClr val="A4A3A4"/>
          </p15:clr>
        </p15:guide>
        <p15:guide id="4" pos="793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46D2"/>
    <a:srgbClr val="FF0000"/>
    <a:srgbClr val="698ED9"/>
    <a:srgbClr val="A7C4FF"/>
    <a:srgbClr val="003064"/>
    <a:srgbClr val="003399"/>
    <a:srgbClr val="0021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F50C76-3026-444F-81B2-9CC3BE465F20}" v="7" dt="2023-10-15T20:05:06.9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934" autoAdjust="0"/>
    <p:restoredTop sz="94660"/>
  </p:normalViewPr>
  <p:slideViewPr>
    <p:cSldViewPr snapToGrid="0" showGuides="1">
      <p:cViewPr>
        <p:scale>
          <a:sx n="51" d="100"/>
          <a:sy n="51" d="100"/>
        </p:scale>
        <p:origin x="-2296" y="24"/>
      </p:cViewPr>
      <p:guideLst>
        <p:guide orient="horz" pos="5289"/>
        <p:guide orient="horz" pos="22086"/>
        <p:guide orient="horz" pos="2349"/>
        <p:guide pos="793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a Mousher Ebied" userId="2c8562f9-399d-4d6c-9952-079e08271c2a" providerId="ADAL" clId="{D9F50C76-3026-444F-81B2-9CC3BE465F20}"/>
    <pc:docChg chg="modSld">
      <pc:chgData name="Hala Mousher Ebied" userId="2c8562f9-399d-4d6c-9952-079e08271c2a" providerId="ADAL" clId="{D9F50C76-3026-444F-81B2-9CC3BE465F20}" dt="2023-10-15T20:05:16.749" v="11" actId="14100"/>
      <pc:docMkLst>
        <pc:docMk/>
      </pc:docMkLst>
      <pc:sldChg chg="addSp delSp modSp mod">
        <pc:chgData name="Hala Mousher Ebied" userId="2c8562f9-399d-4d6c-9952-079e08271c2a" providerId="ADAL" clId="{D9F50C76-3026-444F-81B2-9CC3BE465F20}" dt="2023-10-15T20:05:16.749" v="11" actId="14100"/>
        <pc:sldMkLst>
          <pc:docMk/>
          <pc:sldMk cId="0" sldId="256"/>
        </pc:sldMkLst>
        <pc:spChg chg="mod">
          <ac:chgData name="Hala Mousher Ebied" userId="2c8562f9-399d-4d6c-9952-079e08271c2a" providerId="ADAL" clId="{D9F50C76-3026-444F-81B2-9CC3BE465F20}" dt="2023-10-15T20:03:00.485" v="2" actId="1076"/>
          <ac:spMkLst>
            <pc:docMk/>
            <pc:sldMk cId="0" sldId="256"/>
            <ac:spMk id="2055" creationId="{00000000-0000-0000-0000-000000000000}"/>
          </ac:spMkLst>
        </pc:spChg>
        <pc:spChg chg="del">
          <ac:chgData name="Hala Mousher Ebied" userId="2c8562f9-399d-4d6c-9952-079e08271c2a" providerId="ADAL" clId="{D9F50C76-3026-444F-81B2-9CC3BE465F20}" dt="2023-10-15T20:04:30.032" v="5" actId="478"/>
          <ac:spMkLst>
            <pc:docMk/>
            <pc:sldMk cId="0" sldId="256"/>
            <ac:spMk id="2057" creationId="{00000000-0000-0000-0000-000000000000}"/>
          </ac:spMkLst>
        </pc:spChg>
        <pc:spChg chg="del">
          <ac:chgData name="Hala Mousher Ebied" userId="2c8562f9-399d-4d6c-9952-079e08271c2a" providerId="ADAL" clId="{D9F50C76-3026-444F-81B2-9CC3BE465F20}" dt="2023-10-15T20:05:06.993" v="9" actId="478"/>
          <ac:spMkLst>
            <pc:docMk/>
            <pc:sldMk cId="0" sldId="256"/>
            <ac:spMk id="2064" creationId="{00000000-0000-0000-0000-000000000000}"/>
          </ac:spMkLst>
        </pc:spChg>
        <pc:picChg chg="add del mod">
          <ac:chgData name="Hala Mousher Ebied" userId="2c8562f9-399d-4d6c-9952-079e08271c2a" providerId="ADAL" clId="{D9F50C76-3026-444F-81B2-9CC3BE465F20}" dt="2023-10-15T20:02:57.407" v="1" actId="931"/>
          <ac:picMkLst>
            <pc:docMk/>
            <pc:sldMk cId="0" sldId="256"/>
            <ac:picMk id="3" creationId="{10F7DB5D-55EE-CEFF-C1D4-85A4AB9A3F10}"/>
          </ac:picMkLst>
        </pc:picChg>
        <pc:picChg chg="add mod">
          <ac:chgData name="Hala Mousher Ebied" userId="2c8562f9-399d-4d6c-9952-079e08271c2a" providerId="ADAL" clId="{D9F50C76-3026-444F-81B2-9CC3BE465F20}" dt="2023-10-15T20:04:37.605" v="6" actId="14100"/>
          <ac:picMkLst>
            <pc:docMk/>
            <pc:sldMk cId="0" sldId="256"/>
            <ac:picMk id="5" creationId="{E509137A-6770-D7A7-89AB-77433F2F17E4}"/>
          </ac:picMkLst>
        </pc:picChg>
        <pc:picChg chg="add mod">
          <ac:chgData name="Hala Mousher Ebied" userId="2c8562f9-399d-4d6c-9952-079e08271c2a" providerId="ADAL" clId="{D9F50C76-3026-444F-81B2-9CC3BE465F20}" dt="2023-10-15T20:05:16.749" v="11" actId="14100"/>
          <ac:picMkLst>
            <pc:docMk/>
            <pc:sldMk cId="0" sldId="256"/>
            <ac:picMk id="7" creationId="{29AB08D2-1547-0B42-A132-0A7F219458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en-US" altLang="en-US"/>
          </a:p>
        </p:txBody>
      </p:sp>
      <p:sp>
        <p:nvSpPr>
          <p:cNvPr id="3075" name="Rectangle 3"/>
          <p:cNvSpPr>
            <a:spLocks noGrp="1" noChangeArrowheads="1"/>
          </p:cNvSpPr>
          <p:nvPr>
            <p:ph type="dt" idx="1"/>
          </p:nvPr>
        </p:nvSpPr>
        <p:spPr bwMode="auto">
          <a:xfrm>
            <a:off x="380365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2144713" y="692150"/>
            <a:ext cx="2427287" cy="34655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71513" y="4389438"/>
            <a:ext cx="5372100"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en-US"/>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CBF2D407-7488-4806-B042-2CE959A140D0}" type="slidenum">
              <a:rPr lang="en-US" altLang="en-US"/>
              <a:pPr>
                <a:defRPr/>
              </a:pPr>
              <a:t>‹#›</a:t>
            </a:fld>
            <a:endParaRPr lang="en-US" altLang="en-US"/>
          </a:p>
        </p:txBody>
      </p:sp>
    </p:spTree>
    <p:extLst>
      <p:ext uri="{BB962C8B-B14F-4D97-AF65-F5344CB8AC3E}">
        <p14:creationId xmlns:p14="http://schemas.microsoft.com/office/powerpoint/2010/main" val="16044517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fld id="{8832FB4B-BF18-4E6F-9FD7-11EF81A610E2}" type="slidenum">
              <a:rPr lang="en-US" altLang="en-US" sz="1200"/>
              <a:pPr eaLnBrk="1" hangingPunct="1"/>
              <a:t>1</a:t>
            </a:fld>
            <a:endParaRPr lang="en-US" altLang="en-US" sz="120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90713" y="11183938"/>
            <a:ext cx="21420137" cy="771525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3779838" y="20399375"/>
            <a:ext cx="17641887" cy="92011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8191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260475" y="8399463"/>
            <a:ext cx="22680613" cy="23758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00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90725" y="23133050"/>
            <a:ext cx="21421725" cy="7150100"/>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990725" y="15257463"/>
            <a:ext cx="21421725" cy="78755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04315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260475" y="8399463"/>
            <a:ext cx="11263313" cy="237585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676188" y="8399463"/>
            <a:ext cx="11264900" cy="237585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0021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60475" y="8058150"/>
            <a:ext cx="11134725" cy="33591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0475" y="11417300"/>
            <a:ext cx="11134725" cy="207406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801600" y="8058150"/>
            <a:ext cx="11139488" cy="33591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2801600" y="11417300"/>
            <a:ext cx="11139488" cy="207406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392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993440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195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475" y="1433513"/>
            <a:ext cx="8291513" cy="609917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9853613" y="1433513"/>
            <a:ext cx="14087475" cy="3072447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60475" y="7532688"/>
            <a:ext cx="8291513" cy="24625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2713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40300" y="25199975"/>
            <a:ext cx="15120938" cy="29749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4940300" y="3216275"/>
            <a:ext cx="15120938" cy="21599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4940300" y="28174950"/>
            <a:ext cx="15120938" cy="422433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0267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260475" y="8399463"/>
            <a:ext cx="22680613" cy="23758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554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272125" y="1441450"/>
            <a:ext cx="5668963" cy="307165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260475" y="1441450"/>
            <a:ext cx="16859250" cy="307165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62317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hyperlink" Target="http://www.megaprint.com/" TargetMode="Externa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hlinkClick r:id="rId13"/>
            <a:extLst>
              <a:ext uri="{FF2B5EF4-FFF2-40B4-BE49-F238E27FC236}">
                <a16:creationId xmlns:a16="http://schemas.microsoft.com/office/drawing/2014/main" id="{6BFFBEBF-6F96-4D73-87E7-3525B82575BF}"/>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r="38727"/>
          <a:stretch>
            <a:fillRect/>
          </a:stretch>
        </p:blipFill>
        <p:spPr bwMode="auto">
          <a:xfrm>
            <a:off x="19379372" y="35425506"/>
            <a:ext cx="3255359" cy="1671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1">
            <a:extLst>
              <a:ext uri="{FF2B5EF4-FFF2-40B4-BE49-F238E27FC236}">
                <a16:creationId xmlns:a16="http://schemas.microsoft.com/office/drawing/2014/main" id="{9C365D95-4213-4FDE-84BF-DFB5A2F65993}"/>
              </a:ext>
            </a:extLst>
          </p:cNvPr>
          <p:cNvSpPr txBox="1"/>
          <p:nvPr userDrawn="1"/>
        </p:nvSpPr>
        <p:spPr>
          <a:xfrm>
            <a:off x="22611872" y="35348670"/>
            <a:ext cx="1975669" cy="292388"/>
          </a:xfrm>
          <a:prstGeom prst="rect">
            <a:avLst/>
          </a:prstGeom>
          <a:noFill/>
        </p:spPr>
        <p:txBody>
          <a:bodyPr wrap="none" rtlCol="0">
            <a:spAutoFit/>
          </a:bodyPr>
          <a:lstStyle>
            <a:defPPr>
              <a:defRPr lang="en-US"/>
            </a:defPPr>
            <a:lvl1pPr algn="ctr" rtl="0" fontAlgn="base">
              <a:spcBef>
                <a:spcPct val="0"/>
              </a:spcBef>
              <a:spcAft>
                <a:spcPct val="0"/>
              </a:spcAft>
              <a:defRPr sz="9700" kern="1200">
                <a:solidFill>
                  <a:schemeClr val="tx1"/>
                </a:solidFill>
                <a:latin typeface="Arial" charset="0"/>
                <a:ea typeface="+mn-ea"/>
                <a:cs typeface="+mn-cs"/>
              </a:defRPr>
            </a:lvl1pPr>
            <a:lvl2pPr marL="457200" algn="ctr" rtl="0" fontAlgn="base">
              <a:spcBef>
                <a:spcPct val="0"/>
              </a:spcBef>
              <a:spcAft>
                <a:spcPct val="0"/>
              </a:spcAft>
              <a:defRPr sz="9700" kern="1200">
                <a:solidFill>
                  <a:schemeClr val="tx1"/>
                </a:solidFill>
                <a:latin typeface="Arial" charset="0"/>
                <a:ea typeface="+mn-ea"/>
                <a:cs typeface="+mn-cs"/>
              </a:defRPr>
            </a:lvl2pPr>
            <a:lvl3pPr marL="914400" algn="ctr" rtl="0" fontAlgn="base">
              <a:spcBef>
                <a:spcPct val="0"/>
              </a:spcBef>
              <a:spcAft>
                <a:spcPct val="0"/>
              </a:spcAft>
              <a:defRPr sz="9700" kern="1200">
                <a:solidFill>
                  <a:schemeClr val="tx1"/>
                </a:solidFill>
                <a:latin typeface="Arial" charset="0"/>
                <a:ea typeface="+mn-ea"/>
                <a:cs typeface="+mn-cs"/>
              </a:defRPr>
            </a:lvl3pPr>
            <a:lvl4pPr marL="1371600" algn="ctr" rtl="0" fontAlgn="base">
              <a:spcBef>
                <a:spcPct val="0"/>
              </a:spcBef>
              <a:spcAft>
                <a:spcPct val="0"/>
              </a:spcAft>
              <a:defRPr sz="9700" kern="1200">
                <a:solidFill>
                  <a:schemeClr val="tx1"/>
                </a:solidFill>
                <a:latin typeface="Arial" charset="0"/>
                <a:ea typeface="+mn-ea"/>
                <a:cs typeface="+mn-cs"/>
              </a:defRPr>
            </a:lvl4pPr>
            <a:lvl5pPr marL="1828800" algn="ctr" rtl="0" fontAlgn="base">
              <a:spcBef>
                <a:spcPct val="0"/>
              </a:spcBef>
              <a:spcAft>
                <a:spcPct val="0"/>
              </a:spcAft>
              <a:defRPr sz="9700" kern="1200">
                <a:solidFill>
                  <a:schemeClr val="tx1"/>
                </a:solidFill>
                <a:latin typeface="Arial" charset="0"/>
                <a:ea typeface="+mn-ea"/>
                <a:cs typeface="+mn-cs"/>
              </a:defRPr>
            </a:lvl5pPr>
            <a:lvl6pPr marL="2286000" algn="l" defTabSz="914400" rtl="0" eaLnBrk="1" latinLnBrk="0" hangingPunct="1">
              <a:defRPr sz="9700" kern="1200">
                <a:solidFill>
                  <a:schemeClr val="tx1"/>
                </a:solidFill>
                <a:latin typeface="Arial" charset="0"/>
                <a:ea typeface="+mn-ea"/>
                <a:cs typeface="+mn-cs"/>
              </a:defRPr>
            </a:lvl6pPr>
            <a:lvl7pPr marL="2743200" algn="l" defTabSz="914400" rtl="0" eaLnBrk="1" latinLnBrk="0" hangingPunct="1">
              <a:defRPr sz="9700" kern="1200">
                <a:solidFill>
                  <a:schemeClr val="tx1"/>
                </a:solidFill>
                <a:latin typeface="Arial" charset="0"/>
                <a:ea typeface="+mn-ea"/>
                <a:cs typeface="+mn-cs"/>
              </a:defRPr>
            </a:lvl7pPr>
            <a:lvl8pPr marL="3200400" algn="l" defTabSz="914400" rtl="0" eaLnBrk="1" latinLnBrk="0" hangingPunct="1">
              <a:defRPr sz="9700" kern="1200">
                <a:solidFill>
                  <a:schemeClr val="tx1"/>
                </a:solidFill>
                <a:latin typeface="Arial" charset="0"/>
                <a:ea typeface="+mn-ea"/>
                <a:cs typeface="+mn-cs"/>
              </a:defRPr>
            </a:lvl8pPr>
            <a:lvl9pPr marL="3657600" algn="l" defTabSz="914400" rtl="0" eaLnBrk="1" latinLnBrk="0" hangingPunct="1">
              <a:defRPr sz="9700" kern="1200">
                <a:solidFill>
                  <a:schemeClr val="tx1"/>
                </a:solidFill>
                <a:latin typeface="Arial" charset="0"/>
                <a:ea typeface="+mn-ea"/>
                <a:cs typeface="+mn-cs"/>
              </a:defRPr>
            </a:lvl9pPr>
          </a:lstStyle>
          <a:p>
            <a:r>
              <a:rPr lang="en-US" sz="1300" dirty="0">
                <a:solidFill>
                  <a:schemeClr val="bg1"/>
                </a:solidFill>
              </a:rPr>
              <a:t>www.postersession.com</a:t>
            </a:r>
          </a:p>
        </p:txBody>
      </p:sp>
      <p:sp>
        <p:nvSpPr>
          <p:cNvPr id="6" name="TextBox 1">
            <a:extLst>
              <a:ext uri="{FF2B5EF4-FFF2-40B4-BE49-F238E27FC236}">
                <a16:creationId xmlns:a16="http://schemas.microsoft.com/office/drawing/2014/main" id="{C7E6A034-93E0-421C-ACA5-B28573E1673A}"/>
              </a:ext>
            </a:extLst>
          </p:cNvPr>
          <p:cNvSpPr txBox="1"/>
          <p:nvPr userDrawn="1"/>
        </p:nvSpPr>
        <p:spPr>
          <a:xfrm>
            <a:off x="0" y="35876627"/>
            <a:ext cx="461986" cy="123111"/>
          </a:xfrm>
          <a:prstGeom prst="rect">
            <a:avLst/>
          </a:prstGeom>
          <a:noFill/>
        </p:spPr>
        <p:txBody>
          <a:bodyPr wrap="none" rtlCol="0">
            <a:spAutoFit/>
          </a:bodyPr>
          <a:lstStyle>
            <a:defPPr>
              <a:defRPr lang="en-US"/>
            </a:defPPr>
            <a:lvl1pPr algn="ctr" rtl="0" fontAlgn="base">
              <a:spcBef>
                <a:spcPct val="0"/>
              </a:spcBef>
              <a:spcAft>
                <a:spcPct val="0"/>
              </a:spcAft>
              <a:defRPr sz="9700" kern="1200">
                <a:solidFill>
                  <a:schemeClr val="tx1"/>
                </a:solidFill>
                <a:latin typeface="Arial" charset="0"/>
                <a:ea typeface="+mn-ea"/>
                <a:cs typeface="+mn-cs"/>
              </a:defRPr>
            </a:lvl1pPr>
            <a:lvl2pPr marL="457200" algn="ctr" rtl="0" fontAlgn="base">
              <a:spcBef>
                <a:spcPct val="0"/>
              </a:spcBef>
              <a:spcAft>
                <a:spcPct val="0"/>
              </a:spcAft>
              <a:defRPr sz="9700" kern="1200">
                <a:solidFill>
                  <a:schemeClr val="tx1"/>
                </a:solidFill>
                <a:latin typeface="Arial" charset="0"/>
                <a:ea typeface="+mn-ea"/>
                <a:cs typeface="+mn-cs"/>
              </a:defRPr>
            </a:lvl2pPr>
            <a:lvl3pPr marL="914400" algn="ctr" rtl="0" fontAlgn="base">
              <a:spcBef>
                <a:spcPct val="0"/>
              </a:spcBef>
              <a:spcAft>
                <a:spcPct val="0"/>
              </a:spcAft>
              <a:defRPr sz="9700" kern="1200">
                <a:solidFill>
                  <a:schemeClr val="tx1"/>
                </a:solidFill>
                <a:latin typeface="Arial" charset="0"/>
                <a:ea typeface="+mn-ea"/>
                <a:cs typeface="+mn-cs"/>
              </a:defRPr>
            </a:lvl3pPr>
            <a:lvl4pPr marL="1371600" algn="ctr" rtl="0" fontAlgn="base">
              <a:spcBef>
                <a:spcPct val="0"/>
              </a:spcBef>
              <a:spcAft>
                <a:spcPct val="0"/>
              </a:spcAft>
              <a:defRPr sz="9700" kern="1200">
                <a:solidFill>
                  <a:schemeClr val="tx1"/>
                </a:solidFill>
                <a:latin typeface="Arial" charset="0"/>
                <a:ea typeface="+mn-ea"/>
                <a:cs typeface="+mn-cs"/>
              </a:defRPr>
            </a:lvl4pPr>
            <a:lvl5pPr marL="1828800" algn="ctr" rtl="0" fontAlgn="base">
              <a:spcBef>
                <a:spcPct val="0"/>
              </a:spcBef>
              <a:spcAft>
                <a:spcPct val="0"/>
              </a:spcAft>
              <a:defRPr sz="9700" kern="1200">
                <a:solidFill>
                  <a:schemeClr val="tx1"/>
                </a:solidFill>
                <a:latin typeface="Arial" charset="0"/>
                <a:ea typeface="+mn-ea"/>
                <a:cs typeface="+mn-cs"/>
              </a:defRPr>
            </a:lvl5pPr>
            <a:lvl6pPr marL="2286000" algn="l" defTabSz="914400" rtl="0" eaLnBrk="1" latinLnBrk="0" hangingPunct="1">
              <a:defRPr sz="9700" kern="1200">
                <a:solidFill>
                  <a:schemeClr val="tx1"/>
                </a:solidFill>
                <a:latin typeface="Arial" charset="0"/>
                <a:ea typeface="+mn-ea"/>
                <a:cs typeface="+mn-cs"/>
              </a:defRPr>
            </a:lvl6pPr>
            <a:lvl7pPr marL="2743200" algn="l" defTabSz="914400" rtl="0" eaLnBrk="1" latinLnBrk="0" hangingPunct="1">
              <a:defRPr sz="9700" kern="1200">
                <a:solidFill>
                  <a:schemeClr val="tx1"/>
                </a:solidFill>
                <a:latin typeface="Arial" charset="0"/>
                <a:ea typeface="+mn-ea"/>
                <a:cs typeface="+mn-cs"/>
              </a:defRPr>
            </a:lvl7pPr>
            <a:lvl8pPr marL="3200400" algn="l" defTabSz="914400" rtl="0" eaLnBrk="1" latinLnBrk="0" hangingPunct="1">
              <a:defRPr sz="9700" kern="1200">
                <a:solidFill>
                  <a:schemeClr val="tx1"/>
                </a:solidFill>
                <a:latin typeface="Arial" charset="0"/>
                <a:ea typeface="+mn-ea"/>
                <a:cs typeface="+mn-cs"/>
              </a:defRPr>
            </a:lvl8pPr>
            <a:lvl9pPr marL="3657600" algn="l" defTabSz="914400" rtl="0" eaLnBrk="1" latinLnBrk="0" hangingPunct="1">
              <a:defRPr sz="9700" kern="1200">
                <a:solidFill>
                  <a:schemeClr val="tx1"/>
                </a:solidFill>
                <a:latin typeface="Arial" charset="0"/>
                <a:ea typeface="+mn-ea"/>
                <a:cs typeface="+mn-cs"/>
              </a:defRPr>
            </a:lvl9pPr>
          </a:lstStyle>
          <a:p>
            <a:r>
              <a:rPr lang="en-US" sz="200" dirty="0">
                <a:solidFill>
                  <a:srgbClr val="003064"/>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97263" rtl="0" eaLnBrk="0" fontAlgn="base" hangingPunct="0">
        <a:spcBef>
          <a:spcPct val="0"/>
        </a:spcBef>
        <a:spcAft>
          <a:spcPct val="0"/>
        </a:spcAft>
        <a:defRPr sz="16800">
          <a:solidFill>
            <a:schemeClr val="tx2"/>
          </a:solidFill>
          <a:latin typeface="+mj-lt"/>
          <a:ea typeface="+mj-ea"/>
          <a:cs typeface="+mj-cs"/>
        </a:defRPr>
      </a:lvl1pPr>
      <a:lvl2pPr algn="ctr" defTabSz="3497263" rtl="0" eaLnBrk="0" fontAlgn="base" hangingPunct="0">
        <a:spcBef>
          <a:spcPct val="0"/>
        </a:spcBef>
        <a:spcAft>
          <a:spcPct val="0"/>
        </a:spcAft>
        <a:defRPr sz="16800">
          <a:solidFill>
            <a:schemeClr val="tx2"/>
          </a:solidFill>
          <a:latin typeface="Arial" charset="0"/>
        </a:defRPr>
      </a:lvl2pPr>
      <a:lvl3pPr algn="ctr" defTabSz="3497263" rtl="0" eaLnBrk="0" fontAlgn="base" hangingPunct="0">
        <a:spcBef>
          <a:spcPct val="0"/>
        </a:spcBef>
        <a:spcAft>
          <a:spcPct val="0"/>
        </a:spcAft>
        <a:defRPr sz="16800">
          <a:solidFill>
            <a:schemeClr val="tx2"/>
          </a:solidFill>
          <a:latin typeface="Arial" charset="0"/>
        </a:defRPr>
      </a:lvl3pPr>
      <a:lvl4pPr algn="ctr" defTabSz="3497263" rtl="0" eaLnBrk="0" fontAlgn="base" hangingPunct="0">
        <a:spcBef>
          <a:spcPct val="0"/>
        </a:spcBef>
        <a:spcAft>
          <a:spcPct val="0"/>
        </a:spcAft>
        <a:defRPr sz="16800">
          <a:solidFill>
            <a:schemeClr val="tx2"/>
          </a:solidFill>
          <a:latin typeface="Arial" charset="0"/>
        </a:defRPr>
      </a:lvl4pPr>
      <a:lvl5pPr algn="ctr" defTabSz="3497263" rtl="0" eaLnBrk="0" fontAlgn="base" hangingPunct="0">
        <a:spcBef>
          <a:spcPct val="0"/>
        </a:spcBef>
        <a:spcAft>
          <a:spcPct val="0"/>
        </a:spcAft>
        <a:defRPr sz="16800">
          <a:solidFill>
            <a:schemeClr val="tx2"/>
          </a:solidFill>
          <a:latin typeface="Arial" charset="0"/>
        </a:defRPr>
      </a:lvl5pPr>
      <a:lvl6pPr marL="457200" algn="ctr" defTabSz="3497263" rtl="0" fontAlgn="base">
        <a:spcBef>
          <a:spcPct val="0"/>
        </a:spcBef>
        <a:spcAft>
          <a:spcPct val="0"/>
        </a:spcAft>
        <a:defRPr sz="16800">
          <a:solidFill>
            <a:schemeClr val="tx2"/>
          </a:solidFill>
          <a:latin typeface="Arial" charset="0"/>
        </a:defRPr>
      </a:lvl6pPr>
      <a:lvl7pPr marL="914400" algn="ctr" defTabSz="3497263" rtl="0" fontAlgn="base">
        <a:spcBef>
          <a:spcPct val="0"/>
        </a:spcBef>
        <a:spcAft>
          <a:spcPct val="0"/>
        </a:spcAft>
        <a:defRPr sz="16800">
          <a:solidFill>
            <a:schemeClr val="tx2"/>
          </a:solidFill>
          <a:latin typeface="Arial" charset="0"/>
        </a:defRPr>
      </a:lvl7pPr>
      <a:lvl8pPr marL="1371600" algn="ctr" defTabSz="3497263" rtl="0" fontAlgn="base">
        <a:spcBef>
          <a:spcPct val="0"/>
        </a:spcBef>
        <a:spcAft>
          <a:spcPct val="0"/>
        </a:spcAft>
        <a:defRPr sz="16800">
          <a:solidFill>
            <a:schemeClr val="tx2"/>
          </a:solidFill>
          <a:latin typeface="Arial" charset="0"/>
        </a:defRPr>
      </a:lvl8pPr>
      <a:lvl9pPr marL="1828800" algn="ctr" defTabSz="3497263" rtl="0" fontAlgn="base">
        <a:spcBef>
          <a:spcPct val="0"/>
        </a:spcBef>
        <a:spcAft>
          <a:spcPct val="0"/>
        </a:spcAft>
        <a:defRPr sz="16800">
          <a:solidFill>
            <a:schemeClr val="tx2"/>
          </a:solidFill>
          <a:latin typeface="Arial" charset="0"/>
        </a:defRPr>
      </a:lvl9pPr>
    </p:titleStyle>
    <p:bodyStyle>
      <a:lvl1pPr marL="1311275" indent="-1311275" algn="l" defTabSz="3497263" rtl="0" eaLnBrk="0" fontAlgn="base" hangingPunct="0">
        <a:spcBef>
          <a:spcPct val="20000"/>
        </a:spcBef>
        <a:spcAft>
          <a:spcPct val="0"/>
        </a:spcAft>
        <a:buChar char="•"/>
        <a:defRPr sz="12300">
          <a:solidFill>
            <a:schemeClr val="tx1"/>
          </a:solidFill>
          <a:latin typeface="+mn-lt"/>
          <a:ea typeface="+mn-ea"/>
          <a:cs typeface="+mn-cs"/>
        </a:defRPr>
      </a:lvl1pPr>
      <a:lvl2pPr marL="2840038" indent="-1092200" algn="l" defTabSz="3497263" rtl="0" eaLnBrk="0" fontAlgn="base" hangingPunct="0">
        <a:spcBef>
          <a:spcPct val="20000"/>
        </a:spcBef>
        <a:spcAft>
          <a:spcPct val="0"/>
        </a:spcAft>
        <a:buChar char="–"/>
        <a:defRPr sz="10700">
          <a:solidFill>
            <a:schemeClr val="tx1"/>
          </a:solidFill>
          <a:latin typeface="+mn-lt"/>
        </a:defRPr>
      </a:lvl2pPr>
      <a:lvl3pPr marL="4370388" indent="-873125" algn="l" defTabSz="3497263" rtl="0" eaLnBrk="0" fontAlgn="base" hangingPunct="0">
        <a:spcBef>
          <a:spcPct val="20000"/>
        </a:spcBef>
        <a:spcAft>
          <a:spcPct val="0"/>
        </a:spcAft>
        <a:buChar char="•"/>
        <a:defRPr sz="9200">
          <a:solidFill>
            <a:schemeClr val="tx1"/>
          </a:solidFill>
          <a:latin typeface="+mn-lt"/>
        </a:defRPr>
      </a:lvl3pPr>
      <a:lvl4pPr marL="6118225" indent="-873125" algn="l" defTabSz="3497263" rtl="0" eaLnBrk="0" fontAlgn="base" hangingPunct="0">
        <a:spcBef>
          <a:spcPct val="20000"/>
        </a:spcBef>
        <a:spcAft>
          <a:spcPct val="0"/>
        </a:spcAft>
        <a:buChar char="–"/>
        <a:defRPr sz="7600">
          <a:solidFill>
            <a:schemeClr val="tx1"/>
          </a:solidFill>
          <a:latin typeface="+mn-lt"/>
        </a:defRPr>
      </a:lvl4pPr>
      <a:lvl5pPr marL="7867650" indent="-873125" algn="l" defTabSz="3497263" rtl="0" eaLnBrk="0" fontAlgn="base" hangingPunct="0">
        <a:spcBef>
          <a:spcPct val="20000"/>
        </a:spcBef>
        <a:spcAft>
          <a:spcPct val="0"/>
        </a:spcAft>
        <a:buChar char="»"/>
        <a:defRPr sz="7600">
          <a:solidFill>
            <a:schemeClr val="tx1"/>
          </a:solidFill>
          <a:latin typeface="+mn-lt"/>
        </a:defRPr>
      </a:lvl5pPr>
      <a:lvl6pPr marL="8324850" indent="-873125" algn="l" defTabSz="3497263" rtl="0" fontAlgn="base">
        <a:spcBef>
          <a:spcPct val="20000"/>
        </a:spcBef>
        <a:spcAft>
          <a:spcPct val="0"/>
        </a:spcAft>
        <a:buChar char="»"/>
        <a:defRPr sz="7600">
          <a:solidFill>
            <a:schemeClr val="tx1"/>
          </a:solidFill>
          <a:latin typeface="+mn-lt"/>
        </a:defRPr>
      </a:lvl6pPr>
      <a:lvl7pPr marL="8782050" indent="-873125" algn="l" defTabSz="3497263" rtl="0" fontAlgn="base">
        <a:spcBef>
          <a:spcPct val="20000"/>
        </a:spcBef>
        <a:spcAft>
          <a:spcPct val="0"/>
        </a:spcAft>
        <a:buChar char="»"/>
        <a:defRPr sz="7600">
          <a:solidFill>
            <a:schemeClr val="tx1"/>
          </a:solidFill>
          <a:latin typeface="+mn-lt"/>
        </a:defRPr>
      </a:lvl7pPr>
      <a:lvl8pPr marL="9239250" indent="-873125" algn="l" defTabSz="3497263" rtl="0" fontAlgn="base">
        <a:spcBef>
          <a:spcPct val="20000"/>
        </a:spcBef>
        <a:spcAft>
          <a:spcPct val="0"/>
        </a:spcAft>
        <a:buChar char="»"/>
        <a:defRPr sz="7600">
          <a:solidFill>
            <a:schemeClr val="tx1"/>
          </a:solidFill>
          <a:latin typeface="+mn-lt"/>
        </a:defRPr>
      </a:lvl8pPr>
      <a:lvl9pPr marL="9696450" indent="-873125" algn="l" defTabSz="3497263" rtl="0" fontAlgn="base">
        <a:spcBef>
          <a:spcPct val="20000"/>
        </a:spcBef>
        <a:spcAft>
          <a:spcPct val="0"/>
        </a:spcAft>
        <a:buChar char="»"/>
        <a:defRPr sz="7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postersession.com/order/" TargetMode="External"/><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chemeClr val="bg1"/>
            </a:gs>
            <a:gs pos="100000">
              <a:srgbClr val="003064"/>
            </a:gs>
          </a:gsLst>
          <a:lin ang="5400000" scaled="1"/>
        </a:gradFill>
        <a:effectLst/>
      </p:bgPr>
    </p:bg>
    <p:spTree>
      <p:nvGrpSpPr>
        <p:cNvPr id="1" name=""/>
        <p:cNvGrpSpPr/>
        <p:nvPr/>
      </p:nvGrpSpPr>
      <p:grpSpPr>
        <a:xfrm>
          <a:off x="0" y="0"/>
          <a:ext cx="0" cy="0"/>
          <a:chOff x="0" y="0"/>
          <a:chExt cx="0" cy="0"/>
        </a:xfrm>
      </p:grpSpPr>
      <p:sp>
        <p:nvSpPr>
          <p:cNvPr id="2050" name="AutoShape 50"/>
          <p:cNvSpPr>
            <a:spLocks noChangeArrowheads="1"/>
          </p:cNvSpPr>
          <p:nvPr/>
        </p:nvSpPr>
        <p:spPr bwMode="auto">
          <a:xfrm>
            <a:off x="12771436" y="6288225"/>
            <a:ext cx="11857038" cy="28417836"/>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a:p>
        </p:txBody>
      </p:sp>
      <p:sp>
        <p:nvSpPr>
          <p:cNvPr id="2051" name="AutoShape 4"/>
          <p:cNvSpPr>
            <a:spLocks noChangeArrowheads="1"/>
          </p:cNvSpPr>
          <p:nvPr/>
        </p:nvSpPr>
        <p:spPr bwMode="auto">
          <a:xfrm>
            <a:off x="438150" y="6288225"/>
            <a:ext cx="11857038" cy="28417837"/>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dirty="0"/>
          </a:p>
        </p:txBody>
      </p:sp>
      <p:sp>
        <p:nvSpPr>
          <p:cNvPr id="2052" name="Text Box 9"/>
          <p:cNvSpPr txBox="1">
            <a:spLocks noChangeArrowheads="1"/>
          </p:cNvSpPr>
          <p:nvPr/>
        </p:nvSpPr>
        <p:spPr bwMode="auto">
          <a:xfrm>
            <a:off x="604838" y="8488363"/>
            <a:ext cx="11434762" cy="6155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wrap="square">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algn="l">
              <a:lnSpc>
                <a:spcPct val="95000"/>
              </a:lnSpc>
            </a:pPr>
            <a:r>
              <a:rPr sz="2400"/>
              <a:t>Emergency response is a time-critical public-safety task where every second directly affects survival and damage. Traditional systems (Public Safety Answering Points) still rely on phone calls and manual coordination between callers, dispatchers, and response units. Under heavy load or large-scale events this leads to delayed responses, fragmented and duplicated information, miscommunication, and inconsistent decisions driven by human fatigue and stress.</a:t>
            </a:r>
          </a:p>
          <a:p>
            <a:r>
              <a:rPr sz="2400"/>
              <a:t>The rise of Smart City and Next-Generation 911 initiatives has pushed emergency management toward digital, AI-assisted platforms that combine mobile applications, cloud services, geospatial analysis, and Artificial Intelligence to speed up decisions and improve situational awareness.</a:t>
            </a:r>
          </a:p>
          <a:p>
            <a:r>
              <a:rPr sz="2400"/>
              <a:t>The Smart Emergency Response Manager (ERM) follows this direction as an AI-driven platform connecting Citizens, Response Units, and Administrators in a single ecosystem. Citizens report emergencies by text or voice, and the system automatically attaches their GPS location and timestamp. The AI then transcribes voice reports, filters out fake reports, classifies the incident type and severity, and detects duplicate reports of the same event. Valid incidents are prioritized and the nearest suitable unit is dispatched automatically, with real-time notifications and live tracking for the citizen.</a:t>
            </a:r>
          </a:p>
          <a:p>
            <a:r>
              <a:rPr sz="2400"/>
              <a:t>The goal is to reduce response time, automate triage, optimize the use of emergency resources, and minimize reliance on manual judgment — transforming a largely manual and reactive process into a proactive, data-driven response framework.</a:t>
            </a:r>
          </a:p>
        </p:txBody>
      </p:sp>
      <p:sp>
        <p:nvSpPr>
          <p:cNvPr id="2053" name="Text Box 10"/>
          <p:cNvSpPr txBox="1">
            <a:spLocks noChangeArrowheads="1"/>
          </p:cNvSpPr>
          <p:nvPr/>
        </p:nvSpPr>
        <p:spPr bwMode="auto">
          <a:xfrm>
            <a:off x="3129721" y="20782233"/>
            <a:ext cx="5645150"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Methodology</a:t>
            </a:r>
          </a:p>
        </p:txBody>
      </p:sp>
      <p:sp>
        <p:nvSpPr>
          <p:cNvPr id="2054" name="Text Box 11"/>
          <p:cNvSpPr txBox="1">
            <a:spLocks noChangeArrowheads="1"/>
          </p:cNvSpPr>
          <p:nvPr/>
        </p:nvSpPr>
        <p:spPr bwMode="auto">
          <a:xfrm>
            <a:off x="13375217" y="25248910"/>
            <a:ext cx="10513483"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Conclusion</a:t>
            </a:r>
          </a:p>
        </p:txBody>
      </p:sp>
      <p:sp>
        <p:nvSpPr>
          <p:cNvPr id="2055" name="AutoShape 13"/>
          <p:cNvSpPr>
            <a:spLocks noChangeArrowheads="1"/>
          </p:cNvSpPr>
          <p:nvPr/>
        </p:nvSpPr>
        <p:spPr bwMode="auto">
          <a:xfrm>
            <a:off x="393700" y="313429"/>
            <a:ext cx="24414163" cy="5749925"/>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850" tIns="36425" rIns="72850" bIns="36425" anchor="ct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endParaRPr lang="en-US" altLang="en-US">
              <a:solidFill>
                <a:schemeClr val="bg1"/>
              </a:solidFill>
            </a:endParaRPr>
          </a:p>
        </p:txBody>
      </p:sp>
      <p:sp>
        <p:nvSpPr>
          <p:cNvPr id="2056" name="Text Box 14"/>
          <p:cNvSpPr txBox="1">
            <a:spLocks noChangeArrowheads="1"/>
          </p:cNvSpPr>
          <p:nvPr/>
        </p:nvSpPr>
        <p:spPr bwMode="auto">
          <a:xfrm>
            <a:off x="831850" y="1458913"/>
            <a:ext cx="23495000" cy="4474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algn="l" eaLnBrk="1" hangingPunct="1">
              <a:spcBef>
                <a:spcPct val="50000"/>
              </a:spcBef>
            </a:pPr>
            <a:r>
              <a:rPr lang="en-US" altLang="en-US" sz="10000" b="1" dirty="0"/>
              <a:t>Smart Emergency Response Manager</a:t>
            </a:r>
          </a:p>
          <a:p>
            <a:pPr algn="l" eaLnBrk="1" hangingPunct="1">
              <a:spcBef>
                <a:spcPts val="1200"/>
              </a:spcBef>
            </a:pPr>
            <a:r>
              <a:rPr lang="en-US" altLang="en-US" sz="4400" b="1" dirty="0"/>
              <a:t>By: Students Names…</a:t>
            </a:r>
          </a:p>
          <a:p>
            <a:pPr algn="l" eaLnBrk="1" hangingPunct="1"/>
            <a:r>
              <a:rPr lang="en-US" altLang="en-US" sz="4400" b="1" dirty="0"/>
              <a:t>Supervised by: Dr. … , TA. ……</a:t>
            </a:r>
          </a:p>
          <a:p>
            <a:pPr algn="l" eaLnBrk="1" hangingPunct="1"/>
            <a:r>
              <a:rPr lang="en-US" altLang="en-US" sz="4400" b="1" i="1" dirty="0"/>
              <a:t>Department Name</a:t>
            </a:r>
          </a:p>
          <a:p>
            <a:pPr algn="l" eaLnBrk="1" hangingPunct="1"/>
            <a:r>
              <a:rPr lang="en-US" altLang="en-US" sz="4400" b="1" i="1" dirty="0"/>
              <a:t>Faculty of Computer and Information Sciences - Ain Shams University</a:t>
            </a:r>
            <a:endParaRPr lang="en-US" altLang="en-US" sz="4400" dirty="0"/>
          </a:p>
        </p:txBody>
      </p:sp>
      <p:sp>
        <p:nvSpPr>
          <p:cNvPr id="2058" name="Text Box 27"/>
          <p:cNvSpPr txBox="1">
            <a:spLocks noChangeArrowheads="1"/>
          </p:cNvSpPr>
          <p:nvPr/>
        </p:nvSpPr>
        <p:spPr bwMode="auto">
          <a:xfrm>
            <a:off x="13139739" y="29779523"/>
            <a:ext cx="10893078"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References</a:t>
            </a:r>
          </a:p>
        </p:txBody>
      </p:sp>
      <p:sp>
        <p:nvSpPr>
          <p:cNvPr id="2059" name="Text Box 36"/>
          <p:cNvSpPr txBox="1">
            <a:spLocks noChangeArrowheads="1"/>
          </p:cNvSpPr>
          <p:nvPr/>
        </p:nvSpPr>
        <p:spPr bwMode="auto">
          <a:xfrm>
            <a:off x="656432" y="22022204"/>
            <a:ext cx="11010900" cy="6189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wrap="square">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lnSpc>
                <a:spcPct val="95000"/>
              </a:lnSpc>
            </a:pPr>
            <a:r>
              <a:rPr sz="2500"/>
              <a:t>The project follows a modular, layered design that separates the user interface, the processing/decision logic, and the data storage, allowing each part to be developed, tested, and scaled independently.</a:t>
            </a:r>
          </a:p>
          <a:p>
            <a:r>
              <a:rPr sz="2500"/>
              <a:t>Each emergency report is handled through a sequential AI processing pipeline: the report is received with the citizen's location and timestamp; voice reports are converted to text; the text is screened for authenticity (fake-report filtering); the incident is classified by type and severity; it is checked against recent reports for duplicates; valid incidents are placed in a priority queue; the most suitable available unit is selected and dispatched; and all parties are notified, with feedback collected after resolution.</a:t>
            </a:r>
          </a:p>
          <a:p>
            <a:r>
              <a:rPr sz="2500"/>
              <a:t>Dispatching follows a two-step decision method: incidents are first ordered by urgency (severity, then waiting time), and a unit is then matched to each incident by geographic proximity. When a unit becomes free, it is automatically reassigned to the highest-priority waiting incident.</a:t>
            </a:r>
          </a:p>
          <a:p>
            <a:r>
              <a:rPr sz="2500"/>
              <a:t>The AI models were trained on a labeled dataset of emergency descriptions and integrated into the system as an always-on processing service.</a:t>
            </a:r>
          </a:p>
        </p:txBody>
      </p:sp>
      <p:sp>
        <p:nvSpPr>
          <p:cNvPr id="2060" name="Text Box 38"/>
          <p:cNvSpPr txBox="1">
            <a:spLocks noChangeArrowheads="1"/>
          </p:cNvSpPr>
          <p:nvPr/>
        </p:nvSpPr>
        <p:spPr bwMode="auto">
          <a:xfrm>
            <a:off x="13276263" y="30504068"/>
            <a:ext cx="10612437" cy="355786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wrap="square">
            <a:spAutoFit/>
          </a:bodyPr>
          <a:lstStyle>
            <a:lvl1pPr marL="273050" indent="-273050" defTabSz="488950" eaLnBrk="0" hangingPunct="0">
              <a:defRPr sz="6900">
                <a:solidFill>
                  <a:schemeClr val="tx1"/>
                </a:solidFill>
                <a:latin typeface="Arial" charset="0"/>
              </a:defRPr>
            </a:lvl1pPr>
            <a:lvl2pPr marL="517525" indent="-273050" defTabSz="488950" eaLnBrk="0" hangingPunct="0">
              <a:defRPr sz="6900">
                <a:solidFill>
                  <a:schemeClr val="tx1"/>
                </a:solidFill>
                <a:latin typeface="Arial" charset="0"/>
              </a:defRPr>
            </a:lvl2pPr>
            <a:lvl3pPr marL="762000" indent="-273050" defTabSz="488950" eaLnBrk="0" hangingPunct="0">
              <a:defRPr sz="6900">
                <a:solidFill>
                  <a:schemeClr val="tx1"/>
                </a:solidFill>
                <a:latin typeface="Arial" charset="0"/>
              </a:defRPr>
            </a:lvl3pPr>
            <a:lvl4pPr marL="1003300" indent="-273050" defTabSz="488950" eaLnBrk="0" hangingPunct="0">
              <a:defRPr sz="6900">
                <a:solidFill>
                  <a:schemeClr val="tx1"/>
                </a:solidFill>
                <a:latin typeface="Arial" charset="0"/>
              </a:defRPr>
            </a:lvl4pPr>
            <a:lvl5pPr marL="1247775" indent="-274638" defTabSz="488950" eaLnBrk="0" hangingPunct="0">
              <a:defRPr sz="6900">
                <a:solidFill>
                  <a:schemeClr val="tx1"/>
                </a:solidFill>
                <a:latin typeface="Arial" charset="0"/>
              </a:defRPr>
            </a:lvl5pPr>
            <a:lvl6pPr marL="1704975" indent="-274638" algn="ctr" defTabSz="488950" eaLnBrk="0" fontAlgn="base" hangingPunct="0">
              <a:spcBef>
                <a:spcPct val="0"/>
              </a:spcBef>
              <a:spcAft>
                <a:spcPct val="0"/>
              </a:spcAft>
              <a:defRPr sz="6900">
                <a:solidFill>
                  <a:schemeClr val="tx1"/>
                </a:solidFill>
                <a:latin typeface="Arial" charset="0"/>
              </a:defRPr>
            </a:lvl6pPr>
            <a:lvl7pPr marL="2162175" indent="-274638" algn="ctr" defTabSz="488950" eaLnBrk="0" fontAlgn="base" hangingPunct="0">
              <a:spcBef>
                <a:spcPct val="0"/>
              </a:spcBef>
              <a:spcAft>
                <a:spcPct val="0"/>
              </a:spcAft>
              <a:defRPr sz="6900">
                <a:solidFill>
                  <a:schemeClr val="tx1"/>
                </a:solidFill>
                <a:latin typeface="Arial" charset="0"/>
              </a:defRPr>
            </a:lvl7pPr>
            <a:lvl8pPr marL="2619375" indent="-274638" algn="ctr" defTabSz="488950" eaLnBrk="0" fontAlgn="base" hangingPunct="0">
              <a:spcBef>
                <a:spcPct val="0"/>
              </a:spcBef>
              <a:spcAft>
                <a:spcPct val="0"/>
              </a:spcAft>
              <a:defRPr sz="6900">
                <a:solidFill>
                  <a:schemeClr val="tx1"/>
                </a:solidFill>
                <a:latin typeface="Arial" charset="0"/>
              </a:defRPr>
            </a:lvl8pPr>
            <a:lvl9pPr marL="3076575" indent="-274638" algn="ctr" defTabSz="488950" eaLnBrk="0" fontAlgn="base" hangingPunct="0">
              <a:spcBef>
                <a:spcPct val="0"/>
              </a:spcBef>
              <a:spcAft>
                <a:spcPct val="0"/>
              </a:spcAft>
              <a:defRPr sz="6900">
                <a:solidFill>
                  <a:schemeClr val="tx1"/>
                </a:solidFill>
                <a:latin typeface="Arial" charset="0"/>
              </a:defRPr>
            </a:lvl9pPr>
          </a:lstStyle>
          <a:p>
            <a:pPr algn="l">
              <a:lnSpc>
                <a:spcPct val="95000"/>
              </a:lnSpc>
            </a:pPr>
            <a:r>
              <a:rPr sz="2400"/>
              <a:t>1. Radford, A., et al. (2023). Robust Speech Recognition via Large-Scale Weak Supervision (Whisper). OpenAI.</a:t>
            </a:r>
            <a:endParaRPr lang="en-US" altLang="en-US" sz="2400" u="sng" dirty="0">
              <a:latin typeface="Times New Roman" pitchFamily="18" charset="0"/>
            </a:endParaRPr>
          </a:p>
          <a:p>
            <a:r>
              <a:rPr sz="2400"/>
              <a:t>2. Reimers, N., &amp; Gurevych, I. (2019). Sentence-BERT: Sentence Embeddings using Siamese BERT-Networks. EMNLP.</a:t>
            </a:r>
          </a:p>
          <a:p>
            <a:r>
              <a:rPr sz="2400"/>
              <a:t>3. Pedregosa, F., et al. (2011). Scikit-learn: Machine Learning in Python. JMLR, 12, 2825–2830.</a:t>
            </a:r>
          </a:p>
          <a:p>
            <a:r>
              <a:rPr sz="2400"/>
              <a:t>4. Supabase Documentation. https://supabase.com/docs</a:t>
            </a:r>
          </a:p>
        </p:txBody>
      </p:sp>
      <p:sp>
        <p:nvSpPr>
          <p:cNvPr id="2061" name="Text Box 40"/>
          <p:cNvSpPr txBox="1">
            <a:spLocks noChangeArrowheads="1"/>
          </p:cNvSpPr>
          <p:nvPr/>
        </p:nvSpPr>
        <p:spPr bwMode="auto">
          <a:xfrm>
            <a:off x="13139738" y="26653847"/>
            <a:ext cx="11120437" cy="28561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wrap="square">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lnSpc>
                <a:spcPct val="95000"/>
              </a:lnSpc>
            </a:pPr>
            <a:r>
              <a:rPr sz="2400"/>
              <a:t>The Smart Emergency Response Manager provides a complete end-to-end intelligent workflow that existing systems lack — unifying multi-modal reporting, AI triage (fake detection, severity, unit type), duplicate handling, severity-based prioritization, geospatial smart dispatching, and real-time notifications in one platform.</a:t>
            </a:r>
          </a:p>
          <a:p>
            <a:r>
              <a:rPr sz="2400"/>
              <a:t>By automating these stages, it reduces emergency response times and improves resource utilization, turning a manual, reactive process into a proactive, data-driven framework.</a:t>
            </a:r>
          </a:p>
          <a:p>
            <a:r>
              <a:rPr sz="2400"/>
              <a:t>Future work: live road-routing for exact ETAs, a four-level severity scale, coverage-aware dispatching, and cloud deployment of the AI worker.</a:t>
            </a:r>
          </a:p>
        </p:txBody>
      </p:sp>
      <p:sp>
        <p:nvSpPr>
          <p:cNvPr id="2062" name="Text Box 42"/>
          <p:cNvSpPr txBox="1">
            <a:spLocks noChangeArrowheads="1"/>
          </p:cNvSpPr>
          <p:nvPr/>
        </p:nvSpPr>
        <p:spPr bwMode="auto">
          <a:xfrm>
            <a:off x="831850" y="7165975"/>
            <a:ext cx="10835481"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Introduction</a:t>
            </a:r>
          </a:p>
        </p:txBody>
      </p:sp>
      <p:sp>
        <p:nvSpPr>
          <p:cNvPr id="2063" name="Text Box 43"/>
          <p:cNvSpPr txBox="1">
            <a:spLocks noChangeArrowheads="1"/>
          </p:cNvSpPr>
          <p:nvPr/>
        </p:nvSpPr>
        <p:spPr bwMode="auto">
          <a:xfrm>
            <a:off x="13139738" y="7178675"/>
            <a:ext cx="10748962"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Results/Findings</a:t>
            </a:r>
          </a:p>
        </p:txBody>
      </p:sp>
      <p:sp>
        <p:nvSpPr>
          <p:cNvPr id="2065" name="Text Box 19"/>
          <p:cNvSpPr txBox="1">
            <a:spLocks noChangeArrowheads="1"/>
          </p:cNvSpPr>
          <p:nvPr/>
        </p:nvSpPr>
        <p:spPr bwMode="auto">
          <a:xfrm>
            <a:off x="13174662" y="13301854"/>
            <a:ext cx="1105058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algn="l" eaLnBrk="1" hangingPunct="1">
              <a:lnSpc>
                <a:spcPct val="80000"/>
              </a:lnSpc>
              <a:spcBef>
                <a:spcPct val="50000"/>
              </a:spcBef>
              <a:buFont typeface="Arial" charset="0"/>
              <a:buChar char="•"/>
            </a:pPr>
            <a:r>
              <a:rPr b="1" sz="2800"/>
              <a:t>1- The AI triage pipeline performed accurately:</a:t>
            </a:r>
          </a:p>
          <a:p>
            <a:pPr lvl="1"/>
            <a:r>
              <a:rPr sz="2800"/>
              <a:t>Severity classification (Low / Urgent / Critical) achieved high accuracy on the test set.</a:t>
            </a:r>
          </a:p>
          <a:p>
            <a:pPr lvl="1"/>
            <a:r>
              <a:rPr sz="2800"/>
              <a:t>Unit-type prediction correctly identified the required services (Police / Ambulance / Fire).</a:t>
            </a:r>
          </a:p>
          <a:p>
            <a:pPr lvl="1"/>
            <a:r>
              <a:rPr sz="2800"/>
              <a:t>OpenAI Whisper reliably transcribed voice SOS reports, even under noisy conditions.</a:t>
            </a:r>
          </a:p>
          <a:p>
            <a:pPr/>
            <a:r>
              <a:rPr b="1" sz="2800"/>
              <a:t>2- Fake and duplicate filtering improved resource efficiency:</a:t>
            </a:r>
          </a:p>
          <a:p>
            <a:pPr lvl="1"/>
            <a:r>
              <a:rPr sz="2800"/>
              <a:t>The fake-report detector prevented unnecessary dispatches to false alarms.</a:t>
            </a:r>
          </a:p>
          <a:p>
            <a:pPr lvl="1"/>
            <a:r>
              <a:rPr sz="2800"/>
              <a:t>Duplicate detection merged repeated reports of the same event into one case.</a:t>
            </a:r>
          </a:p>
          <a:p>
            <a:pPr/>
            <a:r>
              <a:rPr b="1" sz="2800"/>
              <a:t>3- Smart dispatching reduced response time:</a:t>
            </a:r>
          </a:p>
          <a:p>
            <a:pPr lvl="1"/>
            <a:r>
              <a:rPr sz="2800"/>
              <a:t>The nearest available unit was selected automatically using Haversine distance.</a:t>
            </a:r>
          </a:p>
          <a:p>
            <a:pPr lvl="1"/>
            <a:r>
              <a:rPr sz="2800"/>
              <a:t>Severity-based prioritization ensured critical incidents were served first.</a:t>
            </a:r>
          </a:p>
          <a:p>
            <a:pPr lvl="1"/>
            <a:r>
              <a:rPr sz="2800"/>
              <a:t>Freed units were automatically reassigned to the highest-priority waiting incident.</a:t>
            </a:r>
          </a:p>
          <a:p>
            <a:pPr/>
            <a:r>
              <a:rPr b="1" sz="2800"/>
              <a:t>4- The system demonstrated scalability and reliability:</a:t>
            </a:r>
          </a:p>
          <a:p>
            <a:pPr lvl="1"/>
            <a:r>
              <a:rPr sz="2800"/>
              <a:t>One global queue and a centralized database coordinated all stations.</a:t>
            </a:r>
          </a:p>
          <a:p>
            <a:pPr lvl="1"/>
            <a:r>
              <a:rPr sz="2800"/>
              <a:t>Race-free dispatching prevented double-assignment of units under load.</a:t>
            </a:r>
          </a:p>
          <a:p>
            <a:pPr/>
            <a:r>
              <a:rPr b="1" sz="2800"/>
              <a:t>5- Real-time communication enhanced the user experience:</a:t>
            </a:r>
          </a:p>
          <a:p>
            <a:pPr lvl="1"/>
            <a:r>
              <a:rPr sz="2800"/>
              <a:t>Citizens received push notifications and live tracking of the responding unit.</a:t>
            </a:r>
          </a:p>
          <a:p>
            <a:pPr lvl="1"/>
            <a:r>
              <a:rPr sz="2800"/>
              <a:t>Citizens could rate the service and leave feedback after resolution.</a:t>
            </a:r>
          </a:p>
        </p:txBody>
      </p:sp>
      <p:sp>
        <p:nvSpPr>
          <p:cNvPr id="2066" name="Text Box 19">
            <a:hlinkClick r:id="rId3"/>
          </p:cNvPr>
          <p:cNvSpPr txBox="1">
            <a:spLocks noChangeArrowheads="1"/>
          </p:cNvSpPr>
          <p:nvPr/>
        </p:nvSpPr>
        <p:spPr bwMode="auto">
          <a:xfrm>
            <a:off x="0" y="36433125"/>
            <a:ext cx="25201563"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sz="6000" b="1" i="1">
                <a:solidFill>
                  <a:srgbClr val="0046D2"/>
                </a:solidFill>
              </a:rPr>
              <a:t>Order online at    https://www.postersession.com/order/</a:t>
            </a:r>
          </a:p>
        </p:txBody>
      </p:sp>
      <p:graphicFrame>
        <p:nvGraphicFramePr>
          <p:cNvPr id="2" name="Table 1">
            <a:extLst>
              <a:ext uri="{FF2B5EF4-FFF2-40B4-BE49-F238E27FC236}">
                <a16:creationId xmlns:a16="http://schemas.microsoft.com/office/drawing/2014/main" id="{DB6BBF59-5462-E614-6979-4597F5D89A6F}"/>
              </a:ext>
            </a:extLst>
          </p:cNvPr>
          <p:cNvGraphicFramePr>
            <a:graphicFrameLocks noGrp="1"/>
          </p:cNvGraphicFramePr>
          <p:nvPr>
            <p:extLst>
              <p:ext uri="{D42A27DB-BD31-4B8C-83A1-F6EECF244321}">
                <p14:modId xmlns:p14="http://schemas.microsoft.com/office/powerpoint/2010/main" val="2434252857"/>
              </p:ext>
            </p:extLst>
          </p:nvPr>
        </p:nvGraphicFramePr>
        <p:xfrm>
          <a:off x="13276263" y="17070223"/>
          <a:ext cx="9733492" cy="1112520"/>
        </p:xfrm>
        <a:graphic>
          <a:graphicData uri="http://schemas.openxmlformats.org/drawingml/2006/table">
            <a:tbl>
              <a:tblPr firstRow="1" bandRow="1">
                <a:tableStyleId>{5C22544A-7EE6-4342-B048-85BDC9FD1C3A}</a:tableStyleId>
              </a:tblPr>
              <a:tblGrid>
                <a:gridCol w="2433373">
                  <a:extLst>
                    <a:ext uri="{9D8B030D-6E8A-4147-A177-3AD203B41FA5}">
                      <a16:colId xmlns:a16="http://schemas.microsoft.com/office/drawing/2014/main" val="2569859845"/>
                    </a:ext>
                  </a:extLst>
                </a:gridCol>
                <a:gridCol w="2433373">
                  <a:extLst>
                    <a:ext uri="{9D8B030D-6E8A-4147-A177-3AD203B41FA5}">
                      <a16:colId xmlns:a16="http://schemas.microsoft.com/office/drawing/2014/main" val="1711718782"/>
                    </a:ext>
                  </a:extLst>
                </a:gridCol>
                <a:gridCol w="2433373">
                  <a:extLst>
                    <a:ext uri="{9D8B030D-6E8A-4147-A177-3AD203B41FA5}">
                      <a16:colId xmlns:a16="http://schemas.microsoft.com/office/drawing/2014/main" val="568955502"/>
                    </a:ext>
                  </a:extLst>
                </a:gridCol>
                <a:gridCol w="2433373">
                  <a:extLst>
                    <a:ext uri="{9D8B030D-6E8A-4147-A177-3AD203B41FA5}">
                      <a16:colId xmlns:a16="http://schemas.microsoft.com/office/drawing/2014/main" val="2734762207"/>
                    </a:ext>
                  </a:extLst>
                </a:gridCol>
                <a:gridCol w="2433373">
                  <a:extLst>
                    <a:ext uri="{9D8B030D-6E8A-4147-A177-3AD203B41FA5}">
                      <a16:colId xmlns:a16="http://schemas.microsoft.com/office/drawing/2014/main" val="2734762207"/>
                    </a:ext>
                  </a:extLst>
                </a:gridCol>
              </a:tblGrid>
              <a:tr h="370840">
                <a:tc>
                  <a:txBody>
                    <a:bodyPr/>
                    <a:lstStyle/>
                    <a:p>
                      <a:r>
                        <a:rPr sz="1300" b="1"/>
                        <a:t>Model / Task</a:t>
                      </a:r>
                    </a:p>
                  </a:txBody>
                  <a:tcPr/>
                </a:tc>
                <a:tc>
                  <a:txBody>
                    <a:bodyPr/>
                    <a:lstStyle/>
                    <a:p>
                      <a:r>
                        <a:rPr sz="1300" b="1"/>
                        <a:t>Accuracy</a:t>
                      </a:r>
                    </a:p>
                  </a:txBody>
                  <a:tcPr/>
                </a:tc>
                <a:tc>
                  <a:txBody>
                    <a:bodyPr/>
                    <a:lstStyle/>
                    <a:p>
                      <a:r>
                        <a:rPr sz="1300" b="1"/>
                        <a:t>Precision</a:t>
                      </a:r>
                    </a:p>
                  </a:txBody>
                  <a:tcPr/>
                </a:tc>
                <a:tc>
                  <a:txBody>
                    <a:bodyPr/>
                    <a:lstStyle/>
                    <a:p>
                      <a:r>
                        <a:rPr sz="1300" b="1"/>
                        <a:t>Recall</a:t>
                      </a:r>
                    </a:p>
                  </a:txBody>
                  <a:tcPr/>
                </a:tc>
                <a:extLst>
                  <a:ext uri="{0D108BD9-81ED-4DB2-BD59-A6C34878D82A}">
                    <a16:rowId xmlns:a16="http://schemas.microsoft.com/office/drawing/2014/main" val="3810071449"/>
                  </a:ext>
                </a:extLst>
                <a:tc>
                  <a:txBody>
                    <a:bodyPr/>
                    <a:lstStyle/>
                    <a:p>
                      <a:r>
                        <a:rPr sz="1300" b="1"/>
                        <a:t>F1-score</a:t>
                      </a:r>
                    </a:p>
                  </a:txBody>
                  <a:tcPr/>
                </a:tc>
              </a:tr>
              <a:tr h="370840">
                <a:tc>
                  <a:txBody>
                    <a:bodyPr/>
                    <a:lstStyle/>
                    <a:p>
                      <a:r>
                        <a:rPr sz="1300"/>
                        <a:t>Severity (4-class)</a:t>
                      </a:r>
                    </a:p>
                  </a:txBody>
                  <a:tcPr/>
                </a:tc>
                <a:tc>
                  <a:txBody>
                    <a:bodyPr/>
                    <a:lstStyle/>
                    <a:p>
                      <a:r>
                        <a:rPr sz="1300"/>
                        <a:t>90.6%</a:t>
                      </a:r>
                    </a:p>
                  </a:txBody>
                  <a:tcPr/>
                </a:tc>
                <a:tc>
                  <a:txBody>
                    <a:bodyPr/>
                    <a:lstStyle/>
                    <a:p>
                      <a:r>
                        <a:rPr sz="1300"/>
                        <a:t>0.906</a:t>
                      </a:r>
                    </a:p>
                  </a:txBody>
                  <a:tcPr/>
                </a:tc>
                <a:tc>
                  <a:txBody>
                    <a:bodyPr/>
                    <a:lstStyle/>
                    <a:p>
                      <a:r>
                        <a:rPr sz="1300"/>
                        <a:t>0.906</a:t>
                      </a:r>
                    </a:p>
                  </a:txBody>
                  <a:tcPr/>
                </a:tc>
                <a:extLst>
                  <a:ext uri="{0D108BD9-81ED-4DB2-BD59-A6C34878D82A}">
                    <a16:rowId xmlns:a16="http://schemas.microsoft.com/office/drawing/2014/main" val="2328849520"/>
                  </a:ext>
                </a:extLst>
                <a:tc>
                  <a:txBody>
                    <a:bodyPr/>
                    <a:lstStyle/>
                    <a:p>
                      <a:r>
                        <a:rPr sz="1300"/>
                        <a:t>0.906</a:t>
                      </a:r>
                    </a:p>
                  </a:txBody>
                  <a:tcPr/>
                </a:tc>
              </a:tr>
              <a:tr h="370840">
                <a:tc>
                  <a:txBody>
                    <a:bodyPr/>
                    <a:lstStyle/>
                    <a:p>
                      <a:r>
                        <a:rPr sz="1300"/>
                        <a:t>Fire needed</a:t>
                      </a:r>
                    </a:p>
                  </a:txBody>
                  <a:tcPr/>
                </a:tc>
                <a:tc>
                  <a:txBody>
                    <a:bodyPr/>
                    <a:lstStyle/>
                    <a:p>
                      <a:r>
                        <a:rPr sz="1300"/>
                        <a:t>98.6%</a:t>
                      </a:r>
                    </a:p>
                  </a:txBody>
                  <a:tcPr/>
                </a:tc>
                <a:tc>
                  <a:txBody>
                    <a:bodyPr/>
                    <a:lstStyle/>
                    <a:p>
                      <a:r>
                        <a:rPr sz="1300"/>
                        <a:t>0.980</a:t>
                      </a:r>
                    </a:p>
                  </a:txBody>
                  <a:tcPr/>
                </a:tc>
                <a:tc>
                  <a:txBody>
                    <a:bodyPr/>
                    <a:lstStyle/>
                    <a:p>
                      <a:r>
                        <a:rPr sz="1300"/>
                        <a:t>0.973</a:t>
                      </a:r>
                    </a:p>
                  </a:txBody>
                  <a:tcPr/>
                </a:tc>
                <a:extLst>
                  <a:ext uri="{0D108BD9-81ED-4DB2-BD59-A6C34878D82A}">
                    <a16:rowId xmlns:a16="http://schemas.microsoft.com/office/drawing/2014/main" val="965047190"/>
                  </a:ext>
                </a:extLst>
                <a:tc>
                  <a:txBody>
                    <a:bodyPr/>
                    <a:lstStyle/>
                    <a:p>
                      <a:r>
                        <a:rPr sz="1300"/>
                        <a:t>0.976</a:t>
                      </a:r>
                    </a:p>
                  </a:txBody>
                  <a:tcPr/>
                </a:tc>
              </a:tr>
              <a:tr h="370840">
                <a:tc>
                  <a:txBody>
                    <a:bodyPr/>
                    <a:lstStyle/>
                    <a:p>
                      <a:r>
                        <a:rPr sz="1300"/>
                        <a:t>Ambulance needed</a:t>
                      </a:r>
                    </a:p>
                  </a:txBody>
                  <a:tcPr/>
                </a:tc>
                <a:tc>
                  <a:txBody>
                    <a:bodyPr/>
                    <a:lstStyle/>
                    <a:p>
                      <a:r>
                        <a:rPr sz="1300"/>
                        <a:t>96.4%</a:t>
                      </a:r>
                    </a:p>
                  </a:txBody>
                  <a:tcPr/>
                </a:tc>
                <a:tc>
                  <a:txBody>
                    <a:bodyPr/>
                    <a:lstStyle/>
                    <a:p>
                      <a:r>
                        <a:rPr sz="1300"/>
                        <a:t>0.972</a:t>
                      </a:r>
                    </a:p>
                  </a:txBody>
                  <a:tcPr/>
                </a:tc>
                <a:tc>
                  <a:txBody>
                    <a:bodyPr/>
                    <a:lstStyle/>
                    <a:p>
                      <a:r>
                        <a:rPr sz="1300"/>
                        <a:t>0.944</a:t>
                      </a:r>
                    </a:p>
                  </a:txBody>
                  <a:tcPr/>
                </a:tc>
                <a:extLst>
                  <a:ext uri="{0D108BD9-81ED-4DB2-BD59-A6C34878D82A}">
                    <a16:rowId xmlns:a16="http://schemas.microsoft.com/office/drawing/2014/main" val="965047190"/>
                  </a:ext>
                </a:extLst>
                <a:tc>
                  <a:txBody>
                    <a:bodyPr/>
                    <a:lstStyle/>
                    <a:p>
                      <a:r>
                        <a:rPr sz="1300"/>
                        <a:t>0.958</a:t>
                      </a:r>
                    </a:p>
                  </a:txBody>
                  <a:tcPr/>
                </a:tc>
              </a:tr>
              <a:tr h="370840">
                <a:tc>
                  <a:txBody>
                    <a:bodyPr/>
                    <a:lstStyle/>
                    <a:p>
                      <a:r>
                        <a:rPr sz="1300"/>
                        <a:t>Police needed</a:t>
                      </a:r>
                    </a:p>
                  </a:txBody>
                  <a:tcPr/>
                </a:tc>
                <a:tc>
                  <a:txBody>
                    <a:bodyPr/>
                    <a:lstStyle/>
                    <a:p>
                      <a:r>
                        <a:rPr sz="1300"/>
                        <a:t>95.6%</a:t>
                      </a:r>
                    </a:p>
                  </a:txBody>
                  <a:tcPr/>
                </a:tc>
                <a:tc>
                  <a:txBody>
                    <a:bodyPr/>
                    <a:lstStyle/>
                    <a:p>
                      <a:r>
                        <a:rPr sz="1300"/>
                        <a:t>0.962</a:t>
                      </a:r>
                    </a:p>
                  </a:txBody>
                  <a:tcPr/>
                </a:tc>
                <a:tc>
                  <a:txBody>
                    <a:bodyPr/>
                    <a:lstStyle/>
                    <a:p>
                      <a:r>
                        <a:rPr sz="1300"/>
                        <a:t>0.968</a:t>
                      </a:r>
                    </a:p>
                  </a:txBody>
                  <a:tcPr/>
                </a:tc>
                <a:extLst>
                  <a:ext uri="{0D108BD9-81ED-4DB2-BD59-A6C34878D82A}">
                    <a16:rowId xmlns:a16="http://schemas.microsoft.com/office/drawing/2014/main" val="965047190"/>
                  </a:ext>
                </a:extLst>
                <a:tc>
                  <a:txBody>
                    <a:bodyPr/>
                    <a:lstStyle/>
                    <a:p>
                      <a:r>
                        <a:rPr sz="1300"/>
                        <a:t>0.965</a:t>
                      </a:r>
                    </a:p>
                  </a:txBody>
                  <a:tcPr/>
                </a:tc>
              </a:tr>
            </a:tbl>
          </a:graphicData>
        </a:graphic>
      </p:graphicFrame>
      <p:sp>
        <p:nvSpPr>
          <p:cNvPr id="3" name="Text Box 19">
            <a:extLst>
              <a:ext uri="{FF2B5EF4-FFF2-40B4-BE49-F238E27FC236}">
                <a16:creationId xmlns:a16="http://schemas.microsoft.com/office/drawing/2014/main" id="{8D53FFB1-D23F-D80B-87BD-F87D4831301D}"/>
              </a:ext>
            </a:extLst>
          </p:cNvPr>
          <p:cNvSpPr txBox="1">
            <a:spLocks noChangeArrowheads="1"/>
          </p:cNvSpPr>
          <p:nvPr/>
        </p:nvSpPr>
        <p:spPr bwMode="auto">
          <a:xfrm>
            <a:off x="13174662" y="16355246"/>
            <a:ext cx="11050587"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marL="0" indent="0" algn="l" eaLnBrk="1" hangingPunct="1">
              <a:lnSpc>
                <a:spcPct val="80000"/>
              </a:lnSpc>
              <a:spcBef>
                <a:spcPct val="50000"/>
              </a:spcBef>
            </a:pPr>
            <a:r>
              <a:rPr sz="2800"/>
              <a:t>Table 1: Model Performance (test set)</a:t>
            </a:r>
          </a:p>
        </p:txBody>
      </p:sp>
      <p:pic>
        <p:nvPicPr>
          <p:cNvPr id="13" name="Picture 12">
            <a:extLst>
              <a:ext uri="{FF2B5EF4-FFF2-40B4-BE49-F238E27FC236}">
                <a16:creationId xmlns:a16="http://schemas.microsoft.com/office/drawing/2014/main" id="{BB782BB7-49F6-7D00-DA33-96D12725F0D6}"/>
              </a:ext>
            </a:extLst>
          </p:cNvPr>
          <p:cNvPicPr>
            <a:picLocks noChangeAspect="1"/>
          </p:cNvPicPr>
          <p:nvPr/>
        </p:nvPicPr>
        <p:blipFill>
          <a:blip r:embed="rId4"/>
          <a:stretch>
            <a:fillRect/>
          </a:stretch>
        </p:blipFill>
        <p:spPr>
          <a:xfrm>
            <a:off x="1841876" y="15077835"/>
            <a:ext cx="8960685" cy="5277414"/>
          </a:xfrm>
          <a:prstGeom prst="rect">
            <a:avLst/>
          </a:prstGeom>
        </p:spPr>
      </p:pic>
      <p:sp>
        <p:nvSpPr>
          <p:cNvPr id="14" name="Text Box 10">
            <a:extLst>
              <a:ext uri="{FF2B5EF4-FFF2-40B4-BE49-F238E27FC236}">
                <a16:creationId xmlns:a16="http://schemas.microsoft.com/office/drawing/2014/main" id="{15248712-8F28-3291-2012-BD3308D98D5A}"/>
              </a:ext>
            </a:extLst>
          </p:cNvPr>
          <p:cNvSpPr txBox="1">
            <a:spLocks noChangeArrowheads="1"/>
          </p:cNvSpPr>
          <p:nvPr/>
        </p:nvSpPr>
        <p:spPr bwMode="auto">
          <a:xfrm>
            <a:off x="656432" y="28528133"/>
            <a:ext cx="11010899"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Key Algorithms</a:t>
            </a:r>
          </a:p>
        </p:txBody>
      </p:sp>
      <p:sp>
        <p:nvSpPr>
          <p:cNvPr id="15" name="Text Box 36">
            <a:extLst>
              <a:ext uri="{FF2B5EF4-FFF2-40B4-BE49-F238E27FC236}">
                <a16:creationId xmlns:a16="http://schemas.microsoft.com/office/drawing/2014/main" id="{94BFB25D-76E5-30A2-41FF-912BB0BB88A9}"/>
              </a:ext>
            </a:extLst>
          </p:cNvPr>
          <p:cNvSpPr txBox="1">
            <a:spLocks noChangeArrowheads="1"/>
          </p:cNvSpPr>
          <p:nvPr/>
        </p:nvSpPr>
        <p:spPr bwMode="auto">
          <a:xfrm>
            <a:off x="669686" y="29708474"/>
            <a:ext cx="11010900" cy="54583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wrap="square">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lnSpc>
                <a:spcPct val="95000"/>
              </a:lnSpc>
            </a:pPr>
            <a:r>
              <a:rPr sz="2500"/>
              <a:t>• Severity: TF-IDF features + multiclass Logistic Regression (Low / Urgent / Critical).</a:t>
            </a:r>
          </a:p>
          <a:p>
            <a:r>
              <a:rPr sz="2500"/>
              <a:t>• Unit type: three binary Logistic Regression classifiers over 768-dim Sentence-Transformer (all-mpnet-base-v2) embeddings (Police / Ambulance / Fire).</a:t>
            </a:r>
          </a:p>
          <a:p>
            <a:r>
              <a:rPr sz="2500"/>
              <a:t>• Fake detection: binary classifier over the same embeddings; flagged reports are rejected before dispatch.</a:t>
            </a:r>
          </a:p>
          <a:p>
            <a:r>
              <a:rPr sz="2500"/>
              <a:t>• Duplicate detection: geographic (≤ 500 m), temporal (≤ 30 min), and semantic similarity (cosine ≥ 0.5).</a:t>
            </a:r>
          </a:p>
          <a:p>
            <a:r>
              <a:rPr sz="2500"/>
              <a:t>• Smart dispatch: nearest available unit via the Haversine great-circle distance; ETA from road-adjusted distance and average city speed.</a:t>
            </a:r>
          </a:p>
          <a:p>
            <a:r>
              <a:rPr sz="2500"/>
              <a:t>• Priority queue: severity order (Critical &gt; Urgent &gt; Low) with FIFO tie-break; a database trigger auto-reassigns freed units.</a:t>
            </a:r>
          </a:p>
        </p:txBody>
      </p:sp>
      <p:sp>
        <p:nvSpPr>
          <p:cNvPr id="16" name="Text Box 9">
            <a:extLst>
              <a:ext uri="{FF2B5EF4-FFF2-40B4-BE49-F238E27FC236}">
                <a16:creationId xmlns:a16="http://schemas.microsoft.com/office/drawing/2014/main" id="{EDCD774B-F368-862A-99E9-E762132E352F}"/>
              </a:ext>
            </a:extLst>
          </p:cNvPr>
          <p:cNvSpPr txBox="1">
            <a:spLocks noChangeArrowheads="1"/>
          </p:cNvSpPr>
          <p:nvPr/>
        </p:nvSpPr>
        <p:spPr bwMode="auto">
          <a:xfrm>
            <a:off x="13101659" y="8640763"/>
            <a:ext cx="11434762" cy="4283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wrap="square">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algn="l">
              <a:lnSpc>
                <a:spcPct val="95000"/>
              </a:lnSpc>
            </a:pPr>
            <a:r>
              <a:rPr sz="2400"/>
              <a:t>Key findings from testing the integrated system:</a:t>
            </a:r>
          </a:p>
        </p:txBody>
      </p:sp>
      <p:sp>
        <p:nvSpPr>
          <p:cNvPr id="17" name="Text Box 40">
            <a:extLst>
              <a:ext uri="{FF2B5EF4-FFF2-40B4-BE49-F238E27FC236}">
                <a16:creationId xmlns:a16="http://schemas.microsoft.com/office/drawing/2014/main" id="{BB4C9B08-606F-2B3E-C480-7F1E13996874}"/>
              </a:ext>
            </a:extLst>
          </p:cNvPr>
          <p:cNvSpPr txBox="1">
            <a:spLocks noChangeArrowheads="1"/>
          </p:cNvSpPr>
          <p:nvPr/>
        </p:nvSpPr>
        <p:spPr bwMode="auto">
          <a:xfrm>
            <a:off x="13071739" y="18800704"/>
            <a:ext cx="11120437" cy="60139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wrap="square">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lnSpc>
                <a:spcPct val="95000"/>
              </a:lnSpc>
            </a:pPr>
            <a:r>
              <a:rPr sz="2400"/>
              <a:t>Response-time metrics (time-to-dispatch and time-to-resolve) are computed from incident timestamps to evaluate operational performance.</a:t>
            </a:r>
          </a:p>
        </p:txBody>
      </p:sp>
      <p:pic>
        <p:nvPicPr>
          <p:cNvPr id="21" name="Picture 20">
            <a:extLst>
              <a:ext uri="{FF2B5EF4-FFF2-40B4-BE49-F238E27FC236}">
                <a16:creationId xmlns:a16="http://schemas.microsoft.com/office/drawing/2014/main" id="{9CAFD128-9498-FF8D-E13C-26EC06733F0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978907" y="999237"/>
            <a:ext cx="4281268" cy="4283945"/>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234</TotalTime>
  <Words>99</Words>
  <Application>Microsoft Office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Symbol</vt:lpstr>
      <vt:lpstr>Times New Roman</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70x100 cm vertical poster template</dc:title>
  <dc:creator>Ethan Shulda;www.postersession.com</dc:creator>
  <cp:keywords>www.postersession.com</cp:keywords>
  <dc:description>©MegaPrint Inc. 2009-2015</dc:description>
  <cp:lastModifiedBy>yasmine afify</cp:lastModifiedBy>
  <cp:revision>47</cp:revision>
  <dcterms:created xsi:type="dcterms:W3CDTF">2008-12-04T00:20:37Z</dcterms:created>
  <dcterms:modified xsi:type="dcterms:W3CDTF">2026-06-22T12:15:00Z</dcterms:modified>
</cp:coreProperties>
</file>